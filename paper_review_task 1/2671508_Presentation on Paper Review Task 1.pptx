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49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IM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" y="502920"/>
            <a:ext cx="12344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6187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700784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Deep Learning Approaches for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Brain Tumour Analysis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2648" y="3182112"/>
            <a:ext cx="1088136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4290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Review Task 1  •  AI in Healthcare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" y="512064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Tasnuba Tasnim  |  ID: 2671508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Information and Communication Technology, KUET</a:t>
            </a:r>
          </a:p>
        </p:txBody>
      </p:sp>
      <p:sp>
        <p:nvSpPr>
          <p:cNvPr id="8" name="Text 6"/>
          <p:cNvSpPr/>
          <p:nvPr/>
        </p:nvSpPr>
        <p:spPr>
          <a:xfrm>
            <a:off x="6639697" y="5120640"/>
            <a:ext cx="4189765" cy="731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Dr. M. A.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Information and Communication Technology, KUET</a:t>
            </a:r>
          </a:p>
          <a:p>
            <a:pPr marL="0" indent="0" algn="r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r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Selected Paper &amp; Review Objective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systematic review is suitable for the assignment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02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review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8463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for Detecting &amp; Diagnosing Brain Tumor Using Deep Learning: Current Trends and Future Research Directions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5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Tariq et al., International Journal of Computational Intelligence Systems, Springer Nature, 2026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9320" y="1618488"/>
            <a:ext cx="18288" cy="3794760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19288" y="1645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92056" y="1645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12344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Grading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19288" y="2286000"/>
            <a:ext cx="12344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PRISMA-P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PROSPERO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QUADAS-2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82912" y="2286000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trends,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gaps,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issues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clinical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endParaRPr lang="en-US" sz="1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objective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4672" y="4160520"/>
            <a:ext cx="48006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Organize recent evidence on automated brain-tumour analysis.</a:t>
            </a:r>
            <a:endParaRPr lang="en-US" sz="1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Compare model families and validation practices.</a:t>
            </a:r>
            <a:endParaRPr lang="en-US" sz="1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Identify barriers that prevent research prototypes from becoming dependable clinical decision-support tools.</a:t>
            </a:r>
            <a:endParaRPr lang="en-US" sz="1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Statement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healthcare challenge is reliability, not only benchmark performance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03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patient-level heterogeneity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93008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93008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intensive manual outlining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36208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36208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scanner, site and labels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79408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79408" y="199339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and rare cases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1083564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37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clinical question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3703320"/>
            <a:ext cx="10469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deep-learning systems remain accurate, calibrated and clinically meaningful when used on new patients, rare tumour types, small lesions and data from different hospitals?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489204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precision-oriented use, models must move from “tumour present” toward patient-specific characterization, grading, treatment response monitoring and prognosis.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Review Methodology &amp; Evidence Balance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qualitative synthesis was used because studies were too heterogeneous for meta-analysis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04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PRISMA-P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07792" y="1975104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EF2F5"/>
          </a:solidFill>
          <a:ln>
            <a:solidFill>
              <a:srgbClr val="EEF2F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&amp;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84064" y="1975104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QUADAS-2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60336" y="1975104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EF2F5"/>
          </a:solidFill>
          <a:ln>
            <a:solidFill>
              <a:srgbClr val="EEF2F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436608" y="1975104"/>
            <a:ext cx="1444752" cy="658368"/>
          </a:xfrm>
          <a:prstGeom prst="roundRect">
            <a:avLst>
              <a:gd name="adj" fmla="val 1111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Qualitative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76272" y="2304288"/>
            <a:ext cx="704088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52544" y="2304288"/>
            <a:ext cx="704088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8816" y="2304288"/>
            <a:ext cx="704088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05088" y="2304288"/>
            <a:ext cx="704088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" y="3063240"/>
            <a:ext cx="1074420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56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 reported by the review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044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en-US" sz="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80360" y="3913632"/>
            <a:ext cx="4114800" cy="13716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913632"/>
            <a:ext cx="3744468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3877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36.4%</a:t>
            </a:r>
            <a:endParaRPr lang="en-US" sz="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306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/ grading</a:t>
            </a:r>
            <a:endParaRPr lang="en-US" sz="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80360" y="4315968"/>
            <a:ext cx="4114800" cy="13716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4315968"/>
            <a:ext cx="3353562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4888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32.6%</a:t>
            </a:r>
            <a:endParaRPr lang="en-US" sz="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880360" y="4718304"/>
            <a:ext cx="4114800" cy="13716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4718304"/>
            <a:ext cx="1903095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46817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18.5%</a:t>
            </a:r>
            <a:endParaRPr lang="en-US" sz="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/ prognostic</a:t>
            </a:r>
            <a:endParaRPr lang="en-US" sz="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880360" y="5120640"/>
            <a:ext cx="4114800" cy="137160"/>
          </a:xfrm>
          <a:prstGeom prst="rect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5120640"/>
            <a:ext cx="339471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50840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3.3%</a:t>
            </a:r>
            <a:endParaRPr lang="en-US" sz="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3524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35240" y="4041648"/>
            <a:ext cx="3474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field is strongest in image-level technical tasks, while patient-level diagnostic and prognostic modelling is still underdeveloped.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" y="557784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from the reviewed document: segmentation 36.4%, classification/grading 32.6%, detection 18.5%, diagnostic/prognostic 3.3%.</a:t>
            </a:r>
            <a:endParaRPr lang="en-US" sz="8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Taxonomy of Existing Solutions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minimal diagram synthesized from the selected review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05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97880" y="2029968"/>
            <a:ext cx="0" cy="713232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97880" y="2029968"/>
            <a:ext cx="0" cy="713232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97880" y="2029968"/>
            <a:ext cx="3703320" cy="713232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3703320"/>
            <a:ext cx="1664208" cy="932688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97880" y="3703320"/>
            <a:ext cx="0" cy="932688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3703320"/>
            <a:ext cx="1673352" cy="932688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0" y="3703320"/>
            <a:ext cx="0" cy="932688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69080" y="1261872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1C74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 &amp; Preparation</a:t>
            </a:r>
            <a:endParaRPr lang="en-US" sz="10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6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scans • labels • patient context</a:t>
            </a:r>
            <a:endParaRPr lang="en-US" sz="10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6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• augmentation • harmonization</a:t>
            </a:r>
            <a:endParaRPr lang="en-US" sz="10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E8F5F3"/>
          </a:solidFill>
          <a:ln w="12700">
            <a:solidFill>
              <a:srgbClr val="1C74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Tasks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/ grading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Prognosis / monitoring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81728" y="2788920"/>
            <a:ext cx="2423160" cy="841248"/>
          </a:xfrm>
          <a:prstGeom prst="roundRect">
            <a:avLst>
              <a:gd name="adj" fmla="val 8696"/>
            </a:avLst>
          </a:prstGeom>
          <a:solidFill>
            <a:srgbClr val="E8F5F3"/>
          </a:solidFill>
          <a:ln w="12700">
            <a:solidFill>
              <a:srgbClr val="1C74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CNN-Centred Families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/ 3D CNN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U-Net / V-Net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 / DenseNet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Cascaded &amp; ensembles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E8F5F3"/>
          </a:solidFill>
          <a:ln w="12700">
            <a:solidFill>
              <a:srgbClr val="1C74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Extensions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CNN–Transformer hybrids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networks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Capsule networks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46120" y="4681728"/>
            <a:ext cx="2331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9A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&amp; Governance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/ calibration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learning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 and auditability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4681728"/>
            <a:ext cx="2606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9A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Precision-Medicine Outcomes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Patient-specific characterization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Subtype / grade support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Treatment-response monitoring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3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prognosis</a:t>
            </a:r>
            <a:endParaRPr lang="en-US" sz="10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Architectural Trends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CNNs remain foundational, while hybrid models add global context and relational structure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CNN-centred architectures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70916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U-Net and V-Net dominate segmentation tasks.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ResNet, DenseNet, VGG and custom CNNs are common in classification and grading.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3D CNNs capture volumetric context but require more memory, data and computation.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46520" y="1554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and emerging architectures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6177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CNN–Transformer systems combine local features with long-range context.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Attention helps boundary delineation and region focus.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6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Graph and capsule models aim to preserve relational and part–whole structure.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3950208"/>
            <a:ext cx="1074420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434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~0.89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4919472"/>
            <a:ext cx="3017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whole-tumour Dice for nnU-Net ensemble on BraTS 2020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17720" y="4434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~0.91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4919472"/>
            <a:ext cx="3017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whole-tumour Dice cited for TransBTS-type systems on BraTS 2019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5320" y="44348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91–97%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5320" y="4919472"/>
            <a:ext cx="3017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range cited for representative curated CNN classifiers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Algorithmic Enhancements &amp; Precision Medicine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models provide enabling components, not complete personalized treatment systems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07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used to stabilize performance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800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2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Dice and focal losses address class imbalance.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2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Patch-based learning, augmentation and deep supervision support small lesion learning.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2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Cascaded refinement, post-processing and ensembles improve stability.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2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Uncertainty estimation can support failure detection.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Precision-medicine pathway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E8F5F3"/>
          </a:solidFill>
          <a:ln w="12700">
            <a:solidFill>
              <a:srgbClr val="1C74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quantifies tumour burden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/ grading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subtype-aware decisions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6520" y="361188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imaging with clinical or molecular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6520" y="4389120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E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modelling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monitors response and prognosis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49640" y="2496312"/>
            <a:ext cx="0" cy="32004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3273552"/>
            <a:ext cx="0" cy="32004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49640" y="4050792"/>
            <a:ext cx="0" cy="32004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" y="5148072"/>
            <a:ext cx="1074420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13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Security, Privacy &amp; Ethical AI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review treats governance as part of technical model quality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08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De-identification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encrypted storage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20440" y="1627632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hospitals keep raw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3640" y="1627632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aggregation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multiparty protocols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06840" y="1627632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privacy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limits membership risk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deployment requirements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493008"/>
            <a:ext cx="502920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3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Subgroup evaluation for demographic and institutional fairness.</a:t>
            </a:r>
            <a:endParaRPr lang="en-US" sz="14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3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Explainability tools such as Grad-CAM and attention maps require clinical validation.</a:t>
            </a:r>
            <a:endParaRPr lang="en-US" sz="14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3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Human-in-the-loop review should remain central in high-stakes decisions.</a:t>
            </a:r>
            <a:endParaRPr lang="en-US" sz="14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37960" y="3108960"/>
            <a:ext cx="18288" cy="2057400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090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Unresolved trade-off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78040" y="370332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9A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77072" y="46634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9A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66960" y="370332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9A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74736" y="4187952"/>
            <a:ext cx="768096" cy="402336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92640" y="4599432"/>
            <a:ext cx="566928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9800" y="3913632"/>
            <a:ext cx="0" cy="0"/>
          </a:xfrm>
          <a:prstGeom prst="line">
            <a:avLst/>
          </a:prstGeom>
          <a:noFill/>
          <a:ln w="13970">
            <a:solidFill>
              <a:srgbClr val="C99A2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086600" y="5468112"/>
            <a:ext cx="4251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9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privacy-preserving model can still leak information through updates or remain biased across institutions.</a:t>
            </a:r>
            <a:endParaRPr lang="en-US" sz="12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Open Challenges Identified by the Review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Unsolved problems that block safe clinical translation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09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33756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2258568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Cross-site generalization loss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Scanner and acquisition differences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Patient-level split and leakage risks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1600200"/>
            <a:ext cx="333756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gaps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9432" y="2258568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Rare and pediatric tumours underrepresented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Small lesions and ambiguous boundaries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Annotation and label heterogeneity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83880" y="1600200"/>
            <a:ext cx="3337560" cy="384048"/>
          </a:xfrm>
          <a:prstGeom prst="roundRect">
            <a:avLst>
              <a:gd name="adj" fmla="val 19048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trust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48472" y="2258568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Calibration and uncertainty incomplete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Heatmaps may be unstable or misleading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Prospective validation and workflow integration needed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3232" y="4343400"/>
            <a:ext cx="1074420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gap for precision medicine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" y="5138928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literature is still mostly single-time-point image analysis. Patient-specific prognosis, treatment response prediction and adaptive monitoring need curated longitudinal and multimodal datasets.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92608"/>
            <a:ext cx="1005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Critical Analysis &amp; Conclusion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2648" y="1014984"/>
            <a:ext cx="10424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4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evaluation of the selected review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10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8006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Registered, PRISMA-guided protocol with QUADAS-2 quality assessment.</a:t>
            </a: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Moves beyond accuracy toward validation, privacy, fairness, regulation and deployment.</a:t>
            </a: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7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Clear taxonomy from CNNs to attention, transformers, graph and hybrid systems.</a:t>
            </a: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4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/ missing perspectives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4709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4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Evidence base is English-heavy and mostly 2019–2025.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4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BraTS benchmark dependence may inflate real-world optimism.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4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Limited empirical comparison of privacy budgets, communication cost and accuracy loss.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40" dirty="0">
                <a:solidFill>
                  <a:srgbClr val="111827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Stronger on segmentation/classification than on prognosis and treatment selection.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" y="4160520"/>
            <a:ext cx="10744200" cy="18288"/>
          </a:xfrm>
          <a:prstGeom prst="rect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937760"/>
            <a:ext cx="10469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F8A98BFD-0125-596E-62C7-1306DA61D522}"/>
              </a:ext>
            </a:extLst>
          </p:cNvPr>
          <p:cNvSpPr/>
          <p:nvPr/>
        </p:nvSpPr>
        <p:spPr>
          <a:xfrm>
            <a:off x="2177079" y="1638569"/>
            <a:ext cx="7837842" cy="3580862"/>
          </a:xfrm>
          <a:prstGeom prst="roundRect">
            <a:avLst>
              <a:gd name="adj" fmla="val 12121"/>
            </a:avLst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B1F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HANK YOU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77A325-AD42-3949-AD18-834703058678}"/>
              </a:ext>
            </a:extLst>
          </p:cNvPr>
          <p:cNvSpPr/>
          <p:nvPr/>
        </p:nvSpPr>
        <p:spPr>
          <a:xfrm>
            <a:off x="11228832" y="6428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11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342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Office PowerPoint</Application>
  <PresentationFormat>Widescreen</PresentationFormat>
  <Paragraphs>204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KUET IICT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Approaches for Brain Tumour Analysis</dc:title>
  <dc:subject>Paper Review Task 1</dc:subject>
  <dc:creator>Tasnuba Tasnim</dc:creator>
  <cp:lastModifiedBy>arisha</cp:lastModifiedBy>
  <cp:revision>3</cp:revision>
  <dcterms:created xsi:type="dcterms:W3CDTF">2026-07-31T18:44:15Z</dcterms:created>
  <dcterms:modified xsi:type="dcterms:W3CDTF">2026-07-31T19:42:59Z</dcterms:modified>
</cp:coreProperties>
</file>